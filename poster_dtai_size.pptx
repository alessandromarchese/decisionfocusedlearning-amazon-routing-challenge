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1pPr>
    <a:lvl2pPr marL="0" marR="0" indent="411480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2pPr>
    <a:lvl3pPr marL="0" marR="0" indent="822960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3pPr>
    <a:lvl4pPr marL="0" marR="0" indent="1234439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4pPr>
    <a:lvl5pPr marL="0" marR="0" indent="1645920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5pPr>
    <a:lvl6pPr marL="0" marR="0" indent="2057400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6pPr>
    <a:lvl7pPr marL="0" marR="0" indent="2468879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7pPr>
    <a:lvl8pPr marL="0" marR="0" indent="2880360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8pPr>
    <a:lvl9pPr marL="0" marR="0" indent="3291840" algn="l" defTabSz="411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3C3C3B"/>
        </a:solidFill>
        <a:effectLst/>
        <a:uFillTx/>
        <a:latin typeface="Gill Sans Nova"/>
        <a:ea typeface="Gill Sans Nova"/>
        <a:cs typeface="Gill Sans Nova"/>
        <a:sym typeface="Gill Sans Nov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7E9"/>
          </a:solidFill>
        </a:fill>
      </a:tcStyle>
    </a:wholeTbl>
    <a:band2H>
      <a:tcTxStyle/>
      <a:tcStyle>
        <a:tcBdr/>
        <a:fill>
          <a:solidFill>
            <a:srgbClr val="E9F4F4"/>
          </a:solidFill>
        </a:fill>
      </a:tcStyle>
    </a:band2H>
    <a:firstCol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DE7"/>
          </a:solidFill>
        </a:fill>
      </a:tcStyle>
    </a:wholeTbl>
    <a:band2H>
      <a:tcTxStyle/>
      <a:tcStyle>
        <a:tcBdr/>
        <a:fill>
          <a:solidFill>
            <a:srgbClr val="E8EFF4"/>
          </a:solidFill>
        </a:fill>
      </a:tcStyle>
    </a:band2H>
    <a:firstCol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8E8"/>
          </a:solidFill>
        </a:fill>
      </a:tcStyle>
    </a:wholeTbl>
    <a:band2H>
      <a:tcTxStyle/>
      <a:tcStyle>
        <a:tcBdr/>
        <a:fill>
          <a:solidFill>
            <a:srgbClr val="E7ECF4"/>
          </a:solidFill>
        </a:fill>
      </a:tcStyle>
    </a:band2H>
    <a:firstCol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C3C3B"/>
              </a:solidFill>
              <a:prstDash val="solid"/>
              <a:round/>
            </a:ln>
          </a:top>
          <a:bottom>
            <a:ln w="25400" cap="flat">
              <a:solidFill>
                <a:srgbClr val="3C3C3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C3C3B"/>
              </a:solidFill>
              <a:prstDash val="solid"/>
              <a:round/>
            </a:ln>
          </a:top>
          <a:bottom>
            <a:ln w="25400" cap="flat">
              <a:solidFill>
                <a:srgbClr val="3C3C3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CDCD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C3C3B"/>
          </a:solidFill>
        </a:fill>
      </a:tcStyle>
    </a:firstCol>
    <a:la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C3C3B"/>
          </a:solidFill>
        </a:fill>
      </a:tcStyle>
    </a:lastRow>
    <a:firstRow>
      <a:tcTxStyle b="on" i="off">
        <a:font>
          <a:latin typeface="Gill Sans Nova"/>
          <a:ea typeface="Gill Sans Nova"/>
          <a:cs typeface="Gill Sans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C3C3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3C3C3B"/>
              </a:solidFill>
              <a:prstDash val="solid"/>
              <a:round/>
            </a:ln>
          </a:left>
          <a:right>
            <a:ln w="12700" cap="flat">
              <a:solidFill>
                <a:srgbClr val="3C3C3B"/>
              </a:solidFill>
              <a:prstDash val="solid"/>
              <a:round/>
            </a:ln>
          </a:right>
          <a:top>
            <a:ln w="12700" cap="flat">
              <a:solidFill>
                <a:srgbClr val="3C3C3B"/>
              </a:solidFill>
              <a:prstDash val="solid"/>
              <a:round/>
            </a:ln>
          </a:top>
          <a:bottom>
            <a:ln w="12700" cap="flat">
              <a:solidFill>
                <a:srgbClr val="3C3C3B"/>
              </a:solidFill>
              <a:prstDash val="solid"/>
              <a:round/>
            </a:ln>
          </a:bottom>
          <a:insideH>
            <a:ln w="12700" cap="flat">
              <a:solidFill>
                <a:srgbClr val="3C3C3B"/>
              </a:solidFill>
              <a:prstDash val="solid"/>
              <a:round/>
            </a:ln>
          </a:insideH>
          <a:insideV>
            <a:ln w="12700" cap="flat">
              <a:solidFill>
                <a:srgbClr val="3C3C3B"/>
              </a:solidFill>
              <a:prstDash val="solid"/>
              <a:round/>
            </a:ln>
          </a:insideV>
        </a:tcBdr>
        <a:fill>
          <a:solidFill>
            <a:srgbClr val="3C3C3B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3C3C3B"/>
              </a:solidFill>
              <a:prstDash val="solid"/>
              <a:round/>
            </a:ln>
          </a:left>
          <a:right>
            <a:ln w="12700" cap="flat">
              <a:solidFill>
                <a:srgbClr val="3C3C3B"/>
              </a:solidFill>
              <a:prstDash val="solid"/>
              <a:round/>
            </a:ln>
          </a:right>
          <a:top>
            <a:ln w="12700" cap="flat">
              <a:solidFill>
                <a:srgbClr val="3C3C3B"/>
              </a:solidFill>
              <a:prstDash val="solid"/>
              <a:round/>
            </a:ln>
          </a:top>
          <a:bottom>
            <a:ln w="12700" cap="flat">
              <a:solidFill>
                <a:srgbClr val="3C3C3B"/>
              </a:solidFill>
              <a:prstDash val="solid"/>
              <a:round/>
            </a:ln>
          </a:bottom>
          <a:insideH>
            <a:ln w="12700" cap="flat">
              <a:solidFill>
                <a:srgbClr val="3C3C3B"/>
              </a:solidFill>
              <a:prstDash val="solid"/>
              <a:round/>
            </a:ln>
          </a:insideH>
          <a:insideV>
            <a:ln w="12700" cap="flat">
              <a:solidFill>
                <a:srgbClr val="3C3C3B"/>
              </a:solidFill>
              <a:prstDash val="solid"/>
              <a:round/>
            </a:ln>
          </a:insideV>
        </a:tcBdr>
        <a:fill>
          <a:solidFill>
            <a:srgbClr val="3C3C3B">
              <a:alpha val="20000"/>
            </a:srgbClr>
          </a:solidFill>
        </a:fill>
      </a:tcStyle>
    </a:firstCol>
    <a:lastRow>
      <a:tcTxStyle b="on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3C3C3B"/>
              </a:solidFill>
              <a:prstDash val="solid"/>
              <a:round/>
            </a:ln>
          </a:left>
          <a:right>
            <a:ln w="12700" cap="flat">
              <a:solidFill>
                <a:srgbClr val="3C3C3B"/>
              </a:solidFill>
              <a:prstDash val="solid"/>
              <a:round/>
            </a:ln>
          </a:right>
          <a:top>
            <a:ln w="50800" cap="flat">
              <a:solidFill>
                <a:srgbClr val="3C3C3B"/>
              </a:solidFill>
              <a:prstDash val="solid"/>
              <a:round/>
            </a:ln>
          </a:top>
          <a:bottom>
            <a:ln w="12700" cap="flat">
              <a:solidFill>
                <a:srgbClr val="3C3C3B"/>
              </a:solidFill>
              <a:prstDash val="solid"/>
              <a:round/>
            </a:ln>
          </a:bottom>
          <a:insideH>
            <a:ln w="12700" cap="flat">
              <a:solidFill>
                <a:srgbClr val="3C3C3B"/>
              </a:solidFill>
              <a:prstDash val="solid"/>
              <a:round/>
            </a:ln>
          </a:insideH>
          <a:insideV>
            <a:ln w="12700" cap="flat">
              <a:solidFill>
                <a:srgbClr val="3C3C3B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l Sans Nova"/>
          <a:ea typeface="Gill Sans Nova"/>
          <a:cs typeface="Gill Sans Nova"/>
        </a:font>
        <a:srgbClr val="3C3C3B"/>
      </a:tcTxStyle>
      <a:tcStyle>
        <a:tcBdr>
          <a:left>
            <a:ln w="12700" cap="flat">
              <a:solidFill>
                <a:srgbClr val="3C3C3B"/>
              </a:solidFill>
              <a:prstDash val="solid"/>
              <a:round/>
            </a:ln>
          </a:left>
          <a:right>
            <a:ln w="12700" cap="flat">
              <a:solidFill>
                <a:srgbClr val="3C3C3B"/>
              </a:solidFill>
              <a:prstDash val="solid"/>
              <a:round/>
            </a:ln>
          </a:right>
          <a:top>
            <a:ln w="12700" cap="flat">
              <a:solidFill>
                <a:srgbClr val="3C3C3B"/>
              </a:solidFill>
              <a:prstDash val="solid"/>
              <a:round/>
            </a:ln>
          </a:top>
          <a:bottom>
            <a:ln w="25400" cap="flat">
              <a:solidFill>
                <a:srgbClr val="3C3C3B"/>
              </a:solidFill>
              <a:prstDash val="solid"/>
              <a:round/>
            </a:ln>
          </a:bottom>
          <a:insideH>
            <a:ln w="12700" cap="flat">
              <a:solidFill>
                <a:srgbClr val="3C3C3B"/>
              </a:solidFill>
              <a:prstDash val="solid"/>
              <a:round/>
            </a:ln>
          </a:insideH>
          <a:insideV>
            <a:ln w="12700" cap="flat">
              <a:solidFill>
                <a:srgbClr val="3C3C3B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78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/>
          </p:nvPr>
        </p:nvSpPr>
        <p:spPr>
          <a:xfrm>
            <a:off x="2217738" y="685800"/>
            <a:ext cx="24225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11480" latinLnBrk="0">
      <a:defRPr sz="900">
        <a:latin typeface="+mn-lt"/>
        <a:ea typeface="+mn-ea"/>
        <a:cs typeface="+mn-cs"/>
        <a:sym typeface="Gill Sans MT"/>
      </a:defRPr>
    </a:lvl1pPr>
    <a:lvl2pPr indent="228600" defTabSz="411480" latinLnBrk="0">
      <a:defRPr sz="900">
        <a:latin typeface="+mn-lt"/>
        <a:ea typeface="+mn-ea"/>
        <a:cs typeface="+mn-cs"/>
        <a:sym typeface="Gill Sans MT"/>
      </a:defRPr>
    </a:lvl2pPr>
    <a:lvl3pPr indent="457200" defTabSz="411480" latinLnBrk="0">
      <a:defRPr sz="900">
        <a:latin typeface="+mn-lt"/>
        <a:ea typeface="+mn-ea"/>
        <a:cs typeface="+mn-cs"/>
        <a:sym typeface="Gill Sans MT"/>
      </a:defRPr>
    </a:lvl3pPr>
    <a:lvl4pPr indent="685800" defTabSz="411480" latinLnBrk="0">
      <a:defRPr sz="900">
        <a:latin typeface="+mn-lt"/>
        <a:ea typeface="+mn-ea"/>
        <a:cs typeface="+mn-cs"/>
        <a:sym typeface="Gill Sans MT"/>
      </a:defRPr>
    </a:lvl4pPr>
    <a:lvl5pPr indent="914400" defTabSz="411480" latinLnBrk="0">
      <a:defRPr sz="900">
        <a:latin typeface="+mn-lt"/>
        <a:ea typeface="+mn-ea"/>
        <a:cs typeface="+mn-cs"/>
        <a:sym typeface="Gill Sans MT"/>
      </a:defRPr>
    </a:lvl5pPr>
    <a:lvl6pPr indent="1143000" defTabSz="411480" latinLnBrk="0">
      <a:defRPr sz="900">
        <a:latin typeface="+mn-lt"/>
        <a:ea typeface="+mn-ea"/>
        <a:cs typeface="+mn-cs"/>
        <a:sym typeface="Gill Sans MT"/>
      </a:defRPr>
    </a:lvl6pPr>
    <a:lvl7pPr indent="1371600" defTabSz="411480" latinLnBrk="0">
      <a:defRPr sz="900">
        <a:latin typeface="+mn-lt"/>
        <a:ea typeface="+mn-ea"/>
        <a:cs typeface="+mn-cs"/>
        <a:sym typeface="Gill Sans MT"/>
      </a:defRPr>
    </a:lvl7pPr>
    <a:lvl8pPr indent="1600200" defTabSz="411480" latinLnBrk="0">
      <a:defRPr sz="900">
        <a:latin typeface="+mn-lt"/>
        <a:ea typeface="+mn-ea"/>
        <a:cs typeface="+mn-cs"/>
        <a:sym typeface="Gill Sans MT"/>
      </a:defRPr>
    </a:lvl8pPr>
    <a:lvl9pPr indent="1828800" defTabSz="411480" latinLnBrk="0">
      <a:defRPr sz="900">
        <a:latin typeface="+mn-lt"/>
        <a:ea typeface="+mn-ea"/>
        <a:cs typeface="+mn-cs"/>
        <a:sym typeface="Gill Sans MT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 section pos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&lt;Title of your PhD poster&gt;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&lt;Title of your PhD poster&gt;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26082" y="2504665"/>
            <a:ext cx="13369261" cy="1476319"/>
          </a:xfrm>
          <a:prstGeom prst="rect">
            <a:avLst/>
          </a:prstGeom>
        </p:spPr>
        <p:txBody>
          <a:bodyPr/>
          <a:lstStyle>
            <a:lvl1pPr defTabSz="2347964">
              <a:defRPr sz="4941"/>
            </a:lvl1pPr>
          </a:lstStyle>
          <a:p>
            <a:r>
              <a:t>&lt; Name PhD presenter, Name PI(s), affiliation&gt; 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ouble section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&lt;Title of your PhD poster&gt;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&lt;Title of your PhD poster&gt;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76934" y="4138678"/>
            <a:ext cx="20478973" cy="1034916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26082" y="2504665"/>
            <a:ext cx="13369261" cy="1476319"/>
          </a:xfrm>
          <a:prstGeom prst="rect">
            <a:avLst/>
          </a:prstGeom>
        </p:spPr>
        <p:txBody>
          <a:bodyPr/>
          <a:lstStyle>
            <a:lvl1pPr defTabSz="2347964">
              <a:defRPr sz="4941"/>
            </a:lvl1pPr>
          </a:lstStyle>
          <a:p>
            <a:r>
              <a:t>&lt; Name PhD presenter, Name PI(s), affiliation&gt;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section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&lt;Title of your PhD poster&gt;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&lt;Title of your PhD poster&gt;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76935" y="4138678"/>
            <a:ext cx="10319375" cy="1034916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26082" y="2504665"/>
            <a:ext cx="13369261" cy="1476319"/>
          </a:xfrm>
          <a:prstGeom prst="rect">
            <a:avLst/>
          </a:prstGeom>
        </p:spPr>
        <p:txBody>
          <a:bodyPr/>
          <a:lstStyle>
            <a:lvl1pPr defTabSz="2347964">
              <a:defRPr sz="4941"/>
            </a:lvl1pPr>
          </a:lstStyle>
          <a:p>
            <a:r>
              <a:t>&lt; Name PhD presenter, Name PI(s), affiliation&gt;</a:t>
            </a:r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c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326080" y="845424"/>
            <a:ext cx="20478970" cy="151273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6082" y="2504665"/>
            <a:ext cx="13369261" cy="1476319"/>
          </a:xfrm>
          <a:prstGeom prst="rect">
            <a:avLst/>
          </a:prstGeom>
        </p:spPr>
        <p:txBody>
          <a:bodyPr/>
          <a:lstStyle>
            <a:lvl2pPr indent="1039879"/>
            <a:lvl3pPr indent="2079757"/>
          </a:lstStyle>
          <a:p>
            <a:r>
              <a:t>&lt; Name PhD presenter, Name PI(s), affiliation&gt;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/>
          <p:nvPr/>
        </p:nvSpPr>
        <p:spPr>
          <a:xfrm>
            <a:off x="12728147" y="29532957"/>
            <a:ext cx="8311468" cy="500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2317" tIns="32317" rIns="32317" bIns="32317" anchor="b">
            <a:spAutoFit/>
          </a:bodyPr>
          <a:lstStyle>
            <a:lvl1pPr algn="r" defTabSz="1362368">
              <a:defRPr sz="1000" b="1" cap="all">
                <a:solidFill>
                  <a:srgbClr val="929497"/>
                </a:solidFill>
              </a:defRPr>
            </a:lvl1pPr>
          </a:lstStyle>
          <a:p>
            <a:r>
              <a:rPr sz="2830"/>
              <a:t>GC1: AI-Driven Data Science</a:t>
            </a:r>
          </a:p>
        </p:txBody>
      </p:sp>
      <p:pic>
        <p:nvPicPr>
          <p:cNvPr id="3" name="Picture 11" descr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68465" y="27491618"/>
            <a:ext cx="2809706" cy="192164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14"/>
          <p:cNvSpPr txBox="1"/>
          <p:nvPr/>
        </p:nvSpPr>
        <p:spPr>
          <a:xfrm>
            <a:off x="286994" y="29360609"/>
            <a:ext cx="10508284" cy="527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9377" rIns="129377">
            <a:spAutoFit/>
          </a:bodyPr>
          <a:lstStyle>
            <a:lvl1pPr>
              <a:defRPr sz="1000" b="1" cap="all">
                <a:solidFill>
                  <a:srgbClr val="36337D"/>
                </a:solidFill>
              </a:defRPr>
            </a:lvl1pPr>
          </a:lstStyle>
          <a:p>
            <a:r>
              <a:rPr sz="2830"/>
              <a:t>WWW.FLANDERSAIRESEARCH.BE</a:t>
            </a:r>
          </a:p>
        </p:txBody>
      </p:sp>
      <p:pic>
        <p:nvPicPr>
          <p:cNvPr id="5" name="Picture 9" descr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6619" y="27877510"/>
            <a:ext cx="4572445" cy="1351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13" descr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42934" y="27768420"/>
            <a:ext cx="1639695" cy="16821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376934" y="4138671"/>
            <a:ext cx="20478973" cy="22992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&lt;Title of your PhD poster&gt;"/>
          <p:cNvSpPr txBox="1">
            <a:spLocks noGrp="1"/>
          </p:cNvSpPr>
          <p:nvPr>
            <p:ph type="title" hasCustomPrompt="1"/>
          </p:nvPr>
        </p:nvSpPr>
        <p:spPr>
          <a:xfrm>
            <a:off x="326080" y="839183"/>
            <a:ext cx="20478970" cy="1518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r>
              <a:t>&lt;Title of your PhD poster&gt;</a:t>
            </a:r>
          </a:p>
        </p:txBody>
      </p:sp>
      <p:sp>
        <p:nvSpPr>
          <p:cNvPr id="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475984" y="27753185"/>
            <a:ext cx="848948" cy="61491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3396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1pPr>
      <a:lvl2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2pPr>
      <a:lvl3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3pPr>
      <a:lvl4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4pPr>
      <a:lvl5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5pPr>
      <a:lvl6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6pPr>
      <a:lvl7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7pPr>
      <a:lvl8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8pPr>
      <a:lvl9pPr marL="0" marR="0" indent="0" algn="l" defTabSz="24205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24" b="0" i="0" u="none" strike="noStrike" cap="none" spc="0" baseline="0">
          <a:solidFill>
            <a:srgbClr val="36337D"/>
          </a:solidFill>
          <a:uFillTx/>
          <a:latin typeface="Gill Sans Nova"/>
          <a:ea typeface="Gill Sans Nova"/>
          <a:cs typeface="Gill Sans Nova"/>
          <a:sym typeface="Gill Sans Nova"/>
        </a:defRPr>
      </a:lvl9pPr>
    </p:titleStyle>
    <p:bodyStyle>
      <a:lvl1pPr marL="0" marR="0" indent="0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Tx/>
        <a:buFontTx/>
        <a:buNone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1pPr>
      <a:lvl2pPr marL="0" marR="0" indent="2420582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Tx/>
        <a:buFontTx/>
        <a:buNone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2pPr>
      <a:lvl3pPr marL="0" marR="0" indent="4841169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Tx/>
        <a:buFontTx/>
        <a:buNone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3pPr>
      <a:lvl4pPr marL="0" marR="0" indent="3119635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Tx/>
        <a:buFontTx/>
        <a:buNone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4pPr>
      <a:lvl5pPr marL="10433548" marR="0" indent="-751214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Pct val="100000"/>
        <a:buFontTx/>
        <a:buChar char="▪"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5pPr>
      <a:lvl6pPr marL="12691708" marR="0" indent="-588791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Pct val="100000"/>
        <a:buFontTx/>
        <a:buChar char="•"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6pPr>
      <a:lvl7pPr marL="15112290" marR="0" indent="-588791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Pct val="100000"/>
        <a:buFontTx/>
        <a:buChar char="•"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7pPr>
      <a:lvl8pPr marL="17532876" marR="0" indent="-588791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Pct val="100000"/>
        <a:buFontTx/>
        <a:buChar char="•"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8pPr>
      <a:lvl9pPr marL="18065618" marR="0" indent="-588788" algn="l" defTabSz="2420582" rtl="0" latinLnBrk="0">
        <a:lnSpc>
          <a:spcPct val="100000"/>
        </a:lnSpc>
        <a:spcBef>
          <a:spcPts val="1132"/>
        </a:spcBef>
        <a:spcAft>
          <a:spcPts val="0"/>
        </a:spcAft>
        <a:buClrTx/>
        <a:buSzPct val="100000"/>
        <a:buFontTx/>
        <a:buChar char="•"/>
        <a:tabLst/>
        <a:defRPr sz="5094" b="0" i="0" u="none" strike="noStrike" cap="none" spc="0" baseline="0">
          <a:solidFill>
            <a:srgbClr val="3C3C3B"/>
          </a:solidFill>
          <a:uFillTx/>
          <a:latin typeface="Gill Sans Nova"/>
          <a:ea typeface="Gill Sans Nova"/>
          <a:cs typeface="Gill Sans Nova"/>
          <a:sym typeface="Gill Sans Nova"/>
        </a:defRPr>
      </a:lvl9pPr>
    </p:bodyStyle>
    <p:otherStyle>
      <a:lvl1pPr marL="0" marR="0" indent="0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1pPr>
      <a:lvl2pPr marL="0" marR="0" indent="1164461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2pPr>
      <a:lvl3pPr marL="0" marR="0" indent="2328921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3pPr>
      <a:lvl4pPr marL="0" marR="0" indent="3493379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4pPr>
      <a:lvl5pPr marL="0" marR="0" indent="4657842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5pPr>
      <a:lvl6pPr marL="0" marR="0" indent="5822304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6pPr>
      <a:lvl7pPr marL="0" marR="0" indent="6986762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7pPr>
      <a:lvl8pPr marL="0" marR="0" indent="8151225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8pPr>
      <a:lvl9pPr marL="0" marR="0" indent="9315686" algn="r" defTabSz="11644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9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Nov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1BB688CA-9D1A-0335-45B0-6FA874E29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738" y="10047465"/>
            <a:ext cx="7881055" cy="4532123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57" name="Title 1"/>
          <p:cNvSpPr txBox="1">
            <a:spLocks noGrp="1"/>
          </p:cNvSpPr>
          <p:nvPr>
            <p:ph type="title"/>
          </p:nvPr>
        </p:nvSpPr>
        <p:spPr>
          <a:xfrm>
            <a:off x="325827" y="0"/>
            <a:ext cx="20731966" cy="1093085"/>
          </a:xfrm>
          <a:prstGeom prst="rect">
            <a:avLst/>
          </a:prstGeom>
        </p:spPr>
        <p:txBody>
          <a:bodyPr>
            <a:normAutofit/>
          </a:bodyPr>
          <a:lstStyle>
            <a:lvl1pPr defTabSz="829689">
              <a:defRPr sz="1940"/>
            </a:lvl1pPr>
          </a:lstStyle>
          <a:p>
            <a:r>
              <a:rPr lang="nl-BE" sz="6000" dirty="0"/>
              <a:t>New approaches </a:t>
            </a:r>
            <a:r>
              <a:rPr lang="nl-BE" sz="6000" dirty="0" err="1"/>
              <a:t>for</a:t>
            </a:r>
            <a:r>
              <a:rPr lang="nl-BE" sz="6000" dirty="0"/>
              <a:t> </a:t>
            </a:r>
            <a:r>
              <a:rPr lang="nl-BE" sz="6000" dirty="0" err="1"/>
              <a:t>the</a:t>
            </a:r>
            <a:r>
              <a:rPr lang="nl-BE" sz="6000" dirty="0"/>
              <a:t> Amazon Last </a:t>
            </a:r>
            <a:r>
              <a:rPr lang="nl-BE" sz="6000" dirty="0" err="1"/>
              <a:t>Mile</a:t>
            </a:r>
            <a:r>
              <a:rPr lang="nl-BE" sz="6000" dirty="0"/>
              <a:t> Routing Challenge</a:t>
            </a:r>
            <a:endParaRPr sz="6000" dirty="0"/>
          </a:p>
        </p:txBody>
      </p:sp>
      <p:sp>
        <p:nvSpPr>
          <p:cNvPr id="58" name="Text Placeholder 6"/>
          <p:cNvSpPr txBox="1">
            <a:spLocks noGrp="1"/>
          </p:cNvSpPr>
          <p:nvPr>
            <p:ph type="body" sz="quarter" idx="1"/>
          </p:nvPr>
        </p:nvSpPr>
        <p:spPr>
          <a:xfrm>
            <a:off x="13723189" y="1077398"/>
            <a:ext cx="7042161" cy="98322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00"/>
              </a:spcBef>
              <a:defRPr sz="1400" b="1">
                <a:solidFill>
                  <a:srgbClr val="36337D"/>
                </a:solidFill>
              </a:defRPr>
            </a:lvl1pPr>
          </a:lstStyle>
          <a:p>
            <a:r>
              <a:rPr lang="nl-BE" sz="4400" dirty="0"/>
              <a:t>Alessandro Marchese</a:t>
            </a:r>
          </a:p>
        </p:txBody>
      </p:sp>
      <p:sp>
        <p:nvSpPr>
          <p:cNvPr id="59" name="Line"/>
          <p:cNvSpPr/>
          <p:nvPr/>
        </p:nvSpPr>
        <p:spPr>
          <a:xfrm>
            <a:off x="-6" y="2709296"/>
            <a:ext cx="21383631" cy="3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129377" rIns="129377"/>
          <a:lstStyle/>
          <a:p>
            <a:endParaRPr sz="4528"/>
          </a:p>
        </p:txBody>
      </p:sp>
      <p:pic>
        <p:nvPicPr>
          <p:cNvPr id="60" name="Afbeelding 7" descr="Afbeelding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79" y="1469014"/>
            <a:ext cx="3063952" cy="109308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Graphic 10" descr="Graphic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851" y="1059262"/>
            <a:ext cx="2637873" cy="15584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DAF53716-089E-CCB9-45D6-5A552B79E6E6}"/>
              </a:ext>
            </a:extLst>
          </p:cNvPr>
          <p:cNvSpPr txBox="1"/>
          <p:nvPr/>
        </p:nvSpPr>
        <p:spPr>
          <a:xfrm>
            <a:off x="325826" y="3058330"/>
            <a:ext cx="14522288" cy="3908760"/>
          </a:xfrm>
          <a:prstGeom prst="rect">
            <a:avLst/>
          </a:prstGeom>
          <a:ln/>
          <a:effectLst>
            <a:outerShdw blurRad="3810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11541"/>
            <a:r>
              <a:rPr lang="nl-BE" sz="4800" u="sng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About</a:t>
            </a:r>
            <a:r>
              <a:rPr lang="nl-BE" sz="4800" u="sng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800" u="sng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the</a:t>
            </a:r>
            <a:r>
              <a:rPr lang="nl-BE" sz="4800" u="sng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Challenge</a:t>
            </a:r>
            <a:r>
              <a:rPr lang="nl-BE" sz="4800" i="1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A 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Gill Sans Nova"/>
                <a:cs typeface="Times New Roman" panose="02020603050405020304" pitchFamily="18" charset="0"/>
              </a:rPr>
              <a:t>r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esearch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Amazon’s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Last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Mile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research team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MIT. The goal is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make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AI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non-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conventional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delivery routes in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set of </a:t>
            </a:r>
            <a:r>
              <a:rPr lang="nl-BE" sz="4000" i="1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lang="nl-BE" sz="4000" i="1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routes</a:t>
            </a:r>
            <a:r>
              <a:rPr lang="nl-BE" sz="4000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defTabSz="411541"/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Routes </a:t>
            </a:r>
            <a:r>
              <a:rPr lang="nl-BE" sz="4000" dirty="0" err="1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dirty="0" err="1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delivery drivers are </a:t>
            </a:r>
            <a:r>
              <a:rPr lang="nl-BE" sz="4000" dirty="0" err="1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dirty="0" err="1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necessarily</a:t>
            </a:r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dirty="0" err="1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best in </a:t>
            </a:r>
            <a:r>
              <a:rPr lang="nl-BE" sz="4000" dirty="0" err="1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time or </a:t>
            </a:r>
            <a:r>
              <a:rPr lang="nl-BE" sz="4000" dirty="0" err="1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nl-BE" sz="4000" dirty="0">
                <a:solidFill>
                  <a:srgbClr val="0070C0"/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nl-BE" sz="4000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nl-BE" sz="4000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nl-BE" sz="4000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nl-BE" sz="4000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nl-BE" sz="4000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BE" sz="4000" dirty="0" err="1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lang="nl-BE" sz="4000" dirty="0">
                <a:solidFill>
                  <a:schemeClr val="accent6">
                    <a:lumMod val="50000"/>
                  </a:schemeClr>
                </a:solidFill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nl-BE" sz="4000" u="sng" dirty="0">
              <a:solidFill>
                <a:schemeClr val="accent6">
                  <a:lumMod val="50000"/>
                </a:schemeClr>
              </a:solidFill>
              <a:latin typeface="Gill Sans Nova" panose="020B0602020104020203" pitchFamily="34" charset="0"/>
              <a:ea typeface="Gill Sans Nova"/>
              <a:cs typeface="Gill Sans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FB187-EFC4-FFE6-CD3D-5321E3C47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2389" y="3058330"/>
            <a:ext cx="5769287" cy="3908760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3810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4D045CD8-3DCE-7C46-F78C-E34C529C456B}"/>
                  </a:ext>
                </a:extLst>
              </p:cNvPr>
              <p:cNvSpPr txBox="1"/>
              <p:nvPr/>
            </p:nvSpPr>
            <p:spPr>
              <a:xfrm>
                <a:off x="325826" y="7254566"/>
                <a:ext cx="12850912" cy="6924971"/>
              </a:xfrm>
              <a:prstGeom prst="rect">
                <a:avLst/>
              </a:prstGeom>
              <a:ln/>
              <a:effectLst>
                <a:outerShdw blurRad="381000" dist="38100" dir="2700000" sx="101000" sy="101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defTabSz="411541"/>
                <a:r>
                  <a:rPr lang="nl-BE" sz="4800" u="sng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Background &amp; </a:t>
                </a:r>
                <a:r>
                  <a:rPr lang="nl-BE" sz="4800" u="sng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Motivation</a:t>
                </a:r>
                <a:r>
                  <a:rPr lang="nl-BE" sz="48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A dataset of 6112 routes has been made public as training set.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Each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route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contains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information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about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the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stops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to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be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served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such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as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their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coordinates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and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the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zone in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which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they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are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located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.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Earlier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work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from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Canoy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et al. (2022) was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based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on a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two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step approach:</a:t>
                </a:r>
              </a:p>
              <a:p>
                <a:pPr marL="742950" indent="-742950" defTabSz="411541">
                  <a:buFont typeface="+mj-lt"/>
                  <a:buAutoNum type="arabicPeriod"/>
                </a:pP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Find most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likely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zone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sequencing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with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l-BE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𝑀𝑎𝑟𝑘𝑜𝑣</m:t>
                        </m:r>
                      </m:sub>
                    </m:sSub>
                    <m:d>
                      <m:dPr>
                        <m:ctrlPr>
                          <a:rPr lang="nl-BE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nl-BE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nl-BE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and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TSP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solver</a:t>
                </a:r>
                <a:endParaRPr lang="nl-BE" sz="4000" dirty="0">
                  <a:solidFill>
                    <a:srgbClr val="0070C0"/>
                  </a:solidFill>
                  <a:latin typeface="Gill Sans Nova"/>
                  <a:ea typeface="Gill Sans Nova"/>
                  <a:cs typeface="Gill Sans Nova"/>
                </a:endParaRPr>
              </a:p>
              <a:p>
                <a:pPr marL="742950" indent="-742950" defTabSz="411541">
                  <a:buFont typeface="+mj-lt"/>
                  <a:buAutoNum type="arabicPeriod"/>
                </a:pP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Use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zone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sequencing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to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find</a:t>
                </a:r>
                <a:r>
                  <a:rPr lang="nl-BE" sz="4000" dirty="0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 stop </a:t>
                </a:r>
                <a:r>
                  <a:rPr lang="nl-BE" sz="4000" dirty="0" err="1">
                    <a:solidFill>
                      <a:srgbClr val="0070C0"/>
                    </a:solidFill>
                    <a:latin typeface="Gill Sans Nova"/>
                    <a:ea typeface="Gill Sans Nova"/>
                    <a:cs typeface="Gill Sans Nova"/>
                  </a:rPr>
                  <a:t>sequencing</a:t>
                </a:r>
                <a:endParaRPr lang="nl-BE" sz="4000" dirty="0">
                  <a:solidFill>
                    <a:srgbClr val="0070C0"/>
                  </a:solidFill>
                  <a:latin typeface="Gill Sans Nova"/>
                  <a:ea typeface="Gill Sans Nova"/>
                  <a:cs typeface="Gill Sans Nova"/>
                </a:endParaRPr>
              </a:p>
              <a:p>
                <a:pPr defTabSz="411541"/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Theoretical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results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have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shown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that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if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the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zone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sequencing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is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known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, a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similarity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(stop) score of 0.008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can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be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reached</a:t>
                </a:r>
                <a:endParaRPr lang="nl-BE" sz="4000" dirty="0">
                  <a:solidFill>
                    <a:schemeClr val="accent6">
                      <a:lumMod val="50000"/>
                    </a:schemeClr>
                  </a:solidFill>
                  <a:latin typeface="Gill Sans Nova"/>
                  <a:ea typeface="Gill Sans Nova"/>
                  <a:cs typeface="Gill Sans Nova"/>
                </a:endParaRPr>
              </a:p>
            </p:txBody>
          </p:sp>
        </mc:Choice>
        <mc:Fallback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4D045CD8-3DCE-7C46-F78C-E34C529C4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6" y="7254566"/>
                <a:ext cx="12850912" cy="69249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  <a:effectLst>
                <a:outerShdw blurRad="381000" dist="38100" dir="2700000" sx="101000" sy="101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F847CEFF-BB14-4C85-884D-0E91FF81DA18}"/>
                  </a:ext>
                </a:extLst>
              </p:cNvPr>
              <p:cNvSpPr txBox="1"/>
              <p:nvPr/>
            </p:nvSpPr>
            <p:spPr>
              <a:xfrm>
                <a:off x="325826" y="14469417"/>
                <a:ext cx="13319124" cy="5262977"/>
              </a:xfrm>
              <a:prstGeom prst="rect">
                <a:avLst/>
              </a:prstGeom>
              <a:ln/>
              <a:effectLst>
                <a:outerShdw blurRad="381000" dist="38100" dir="2700000" sx="101000" sy="101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defTabSz="411541"/>
                <a:r>
                  <a:rPr lang="nl-BE" sz="4800" u="sng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Approach</a:t>
                </a:r>
                <a:r>
                  <a:rPr lang="nl-BE" sz="48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800" u="sng" dirty="0">
                    <a:solidFill>
                      <a:srgbClr val="C00000"/>
                    </a:solidFill>
                    <a:latin typeface="Gill Sans Nova"/>
                    <a:ea typeface="Gill Sans Nova"/>
                    <a:cs typeface="Gill Sans Nova"/>
                  </a:rPr>
                  <a:t>No.1 </a:t>
                </a:r>
              </a:p>
              <a:p>
                <a:pPr marL="742950" lvl="1" indent="-742950" defTabSz="411541">
                  <a:buFont typeface="+mj-lt"/>
                  <a:buAutoNum type="arabicPeriod"/>
                </a:pP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Calculate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connection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probabilities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4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4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l-BE" sz="4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𝑀𝑎𝑟𝑘𝑜𝑣</m:t>
                        </m:r>
                      </m:sub>
                    </m:sSub>
                    <m:d>
                      <m:dPr>
                        <m:ctrlPr>
                          <a:rPr lang="nl-BE" sz="4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Gill Sans Nova"/>
                            <a:cs typeface="Gill Sans Nova"/>
                          </a:rPr>
                        </m:ctrlPr>
                      </m:dPr>
                      <m:e>
                        <m:r>
                          <a:rPr lang="nl-BE" sz="4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Gill Sans Nova"/>
                            <a:cs typeface="Gill Sans Nova"/>
                          </a:rPr>
                          <m:t>𝐴</m:t>
                        </m:r>
                        <m:r>
                          <a:rPr lang="nl-BE" sz="4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Gill Sans Nova"/>
                          </a:rPr>
                          <m:t>↔</m:t>
                        </m:r>
                        <m:r>
                          <a:rPr lang="nl-BE" sz="4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Gill Sans Nova"/>
                          </a:rPr>
                          <m:t>𝐵</m:t>
                        </m:r>
                      </m:e>
                    </m:d>
                  </m:oMath>
                </a14:m>
                <a:endParaRPr lang="nl-BE" sz="4000" dirty="0">
                  <a:solidFill>
                    <a:schemeClr val="accent6">
                      <a:lumMod val="50000"/>
                    </a:schemeClr>
                  </a:solidFill>
                  <a:latin typeface="Gill Sans Nova"/>
                  <a:ea typeface="Cambria Math" panose="02040503050406030204" pitchFamily="18" charset="0"/>
                  <a:cs typeface="Gill Sans Nova"/>
                </a:endParaRPr>
              </a:p>
              <a:p>
                <a:pPr marL="742950" lvl="1" indent="-742950" defTabSz="411541">
                  <a:buFont typeface="+mj-lt"/>
                  <a:buAutoNum type="arabicPeriod"/>
                </a:pP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Generalize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porbability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distribution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with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NN </a:t>
                </a:r>
              </a:p>
              <a:p>
                <a:pPr marL="742950" lvl="1" indent="-742950" defTabSz="411541">
                  <a:buFont typeface="+mj-lt"/>
                  <a:buAutoNum type="arabicPeriod"/>
                </a:pP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Flip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sequence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according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to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a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reference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instance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if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necessary</a:t>
                </a:r>
                <a:endParaRPr lang="nl-BE" sz="4000" dirty="0">
                  <a:solidFill>
                    <a:schemeClr val="accent6">
                      <a:lumMod val="50000"/>
                    </a:schemeClr>
                  </a:solidFill>
                  <a:latin typeface="Gill Sans Nova"/>
                  <a:ea typeface="Gill Sans Nova"/>
                  <a:cs typeface="Gill Sans Nova"/>
                </a:endParaRPr>
              </a:p>
              <a:p>
                <a:r>
                  <a:rPr lang="nl-BE" sz="4800" u="sng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Approach</a:t>
                </a:r>
                <a:r>
                  <a:rPr lang="nl-BE" sz="48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800" dirty="0">
                    <a:solidFill>
                      <a:srgbClr val="00B050"/>
                    </a:solidFill>
                    <a:latin typeface="Gill Sans Nova"/>
                    <a:ea typeface="Gill Sans Nova"/>
                    <a:cs typeface="Gill Sans Nova"/>
                  </a:rPr>
                  <a:t>No.2  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NN targets are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probabilities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for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perfect TSP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Different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Linear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Layer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is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used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for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each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source zone</a:t>
                </a:r>
              </a:p>
              <a:p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    	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If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source zone is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not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in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history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, a Default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Layer</a:t>
                </a:r>
                <a:r>
                  <a:rPr lang="nl-BE" sz="4000" dirty="0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 is </a:t>
                </a:r>
                <a:r>
                  <a:rPr lang="nl-BE" sz="4000" dirty="0" err="1">
                    <a:solidFill>
                      <a:schemeClr val="accent6">
                        <a:lumMod val="50000"/>
                      </a:schemeClr>
                    </a:solidFill>
                    <a:latin typeface="Gill Sans Nova"/>
                    <a:ea typeface="Gill Sans Nova"/>
                    <a:cs typeface="Gill Sans Nova"/>
                  </a:rPr>
                  <a:t>used</a:t>
                </a:r>
                <a:endParaRPr lang="nl-BE" sz="4000" dirty="0">
                  <a:solidFill>
                    <a:schemeClr val="accent6">
                      <a:lumMod val="50000"/>
                    </a:schemeClr>
                  </a:solidFill>
                  <a:latin typeface="Gill Sans Nova"/>
                  <a:ea typeface="Gill Sans Nova"/>
                  <a:cs typeface="Gill Sans Nova"/>
                </a:endParaRPr>
              </a:p>
            </p:txBody>
          </p:sp>
        </mc:Choice>
        <mc:Fallback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F847CEFF-BB14-4C85-884D-0E91FF81D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6" y="14469417"/>
                <a:ext cx="13319124" cy="52629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  <a:effectLst>
                <a:outerShdw blurRad="381000" dist="38100" dir="2700000" sx="101000" sy="101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Afbeelding 7" descr="Afbeelding met diagram&#10;&#10;Automatisch gegenereerde beschrijving">
            <a:extLst>
              <a:ext uri="{FF2B5EF4-FFF2-40B4-BE49-F238E27FC236}">
                <a16:creationId xmlns:a16="http://schemas.microsoft.com/office/drawing/2014/main" id="{28CDCD79-778A-AD37-F01B-436F70126D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0375" y="14579588"/>
            <a:ext cx="8398974" cy="7766637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0E570217-1E38-5B5C-1272-4870269B1F90}"/>
              </a:ext>
            </a:extLst>
          </p:cNvPr>
          <p:cNvSpPr txBox="1"/>
          <p:nvPr/>
        </p:nvSpPr>
        <p:spPr>
          <a:xfrm>
            <a:off x="11338560" y="23020647"/>
            <a:ext cx="9426790" cy="6863415"/>
          </a:xfrm>
          <a:prstGeom prst="rect">
            <a:avLst/>
          </a:prstGeom>
          <a:ln/>
          <a:effectLst>
            <a:outerShdw blurRad="3810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11541"/>
            <a:r>
              <a:rPr lang="nl-BE" sz="4400" u="sng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Conluding</a:t>
            </a:r>
            <a:r>
              <a:rPr lang="nl-BE" sz="4400" u="sng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u="sng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Remarks</a:t>
            </a:r>
            <a:r>
              <a:rPr lang="nl-BE" sz="4400" u="sng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&amp; </a:t>
            </a:r>
            <a:r>
              <a:rPr lang="nl-BE" sz="4400" u="sng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Future</a:t>
            </a:r>
            <a:r>
              <a:rPr lang="nl-BE" sz="4400" u="sng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u="sng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Work</a:t>
            </a:r>
            <a:r>
              <a:rPr lang="nl-BE" sz="4400" u="sng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</a:p>
          <a:p>
            <a:pPr marL="571500" indent="-571500" defTabSz="411541">
              <a:buFont typeface="Arial" panose="020B0604020202020204" pitchFamily="34" charset="0"/>
              <a:buChar char="•"/>
            </a:pP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Targetting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symmetrical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probabilities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and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adjusting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directions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by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flipping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sequences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seems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to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be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a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reliable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method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for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both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approaches</a:t>
            </a:r>
          </a:p>
          <a:p>
            <a:pPr marL="571500" indent="-571500" defTabSz="411541">
              <a:buFont typeface="Arial" panose="020B0604020202020204" pitchFamily="34" charset="0"/>
              <a:buChar char="•"/>
            </a:pP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Linear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Layers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from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approach No.2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performed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worse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than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expected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.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They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should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be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trained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individually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with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their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corresponding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data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and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not</a:t>
            </a:r>
            <a:r>
              <a:rPr lang="nl-BE" sz="4400" dirty="0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 </a:t>
            </a:r>
            <a:r>
              <a:rPr lang="nl-BE" sz="4400" dirty="0" err="1">
                <a:solidFill>
                  <a:schemeClr val="accent6">
                    <a:lumMod val="50000"/>
                  </a:schemeClr>
                </a:solidFill>
                <a:latin typeface="Gill Sans Nova"/>
                <a:ea typeface="Gill Sans Nova"/>
                <a:cs typeface="Gill Sans Nova"/>
              </a:rPr>
              <a:t>collectively</a:t>
            </a:r>
            <a:endParaRPr lang="nl-BE" sz="4400" dirty="0">
              <a:solidFill>
                <a:schemeClr val="accent6">
                  <a:lumMod val="50000"/>
                </a:schemeClr>
              </a:solidFill>
              <a:latin typeface="Gill Sans Nova"/>
              <a:ea typeface="Gill Sans Nova"/>
              <a:cs typeface="Gill Sans Nova"/>
            </a:endParaRPr>
          </a:p>
        </p:txBody>
      </p:sp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AA5849AE-4C04-C7F5-2353-0B5295365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852809"/>
              </p:ext>
            </p:extLst>
          </p:nvPr>
        </p:nvGraphicFramePr>
        <p:xfrm>
          <a:off x="325826" y="20022274"/>
          <a:ext cx="10701418" cy="8138160"/>
        </p:xfrm>
        <a:graphic>
          <a:graphicData uri="http://schemas.openxmlformats.org/drawingml/2006/table">
            <a:tbl>
              <a:tblPr>
                <a:effectLst>
                  <a:outerShdw blurRad="3810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491697">
                  <a:extLst>
                    <a:ext uri="{9D8B030D-6E8A-4147-A177-3AD203B41FA5}">
                      <a16:colId xmlns:a16="http://schemas.microsoft.com/office/drawing/2014/main" val="2240852382"/>
                    </a:ext>
                  </a:extLst>
                </a:gridCol>
                <a:gridCol w="2069907">
                  <a:extLst>
                    <a:ext uri="{9D8B030D-6E8A-4147-A177-3AD203B41FA5}">
                      <a16:colId xmlns:a16="http://schemas.microsoft.com/office/drawing/2014/main" val="2210863048"/>
                    </a:ext>
                  </a:extLst>
                </a:gridCol>
                <a:gridCol w="2069907">
                  <a:extLst>
                    <a:ext uri="{9D8B030D-6E8A-4147-A177-3AD203B41FA5}">
                      <a16:colId xmlns:a16="http://schemas.microsoft.com/office/drawing/2014/main" val="3966333181"/>
                    </a:ext>
                  </a:extLst>
                </a:gridCol>
                <a:gridCol w="2069907">
                  <a:extLst>
                    <a:ext uri="{9D8B030D-6E8A-4147-A177-3AD203B41FA5}">
                      <a16:colId xmlns:a16="http://schemas.microsoft.com/office/drawing/2014/main" val="3665454889"/>
                    </a:ext>
                  </a:extLst>
                </a:gridCol>
              </a:tblGrid>
              <a:tr h="451281">
                <a:tc>
                  <a:txBody>
                    <a:bodyPr/>
                    <a:lstStyle/>
                    <a:p>
                      <a:pPr algn="ctr" rtl="0" fontAlgn="b"/>
                      <a:r>
                        <a:rPr lang="nl-BE" sz="3600" b="1" dirty="0" err="1">
                          <a:effectLst/>
                        </a:rPr>
                        <a:t>Table</a:t>
                      </a:r>
                      <a:r>
                        <a:rPr lang="nl-BE" sz="3600" b="1" dirty="0">
                          <a:effectLst/>
                        </a:rPr>
                        <a:t> of </a:t>
                      </a:r>
                      <a:r>
                        <a:rPr lang="nl-BE" sz="3600" b="1" dirty="0" err="1">
                          <a:effectLst/>
                        </a:rPr>
                        <a:t>results</a:t>
                      </a:r>
                      <a:endParaRPr lang="en-GB" sz="3600" b="1" dirty="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effectLst/>
                        </a:rPr>
                        <a:t>zone score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>
                          <a:effectLst/>
                        </a:rPr>
                        <a:t>AD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>
                          <a:effectLst/>
                        </a:rPr>
                        <a:t>Flipped AD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6843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 dirty="0">
                          <a:effectLst/>
                        </a:rPr>
                        <a:t>Approach No.1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131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Connection Probabilities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0.0372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58.6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29.70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094961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Neural Net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0.0270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59.2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20.18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39847"/>
                  </a:ext>
                </a:extLst>
              </a:tr>
              <a:tr h="877462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Neural Net with distances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0.0270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59.4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19.80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23966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Approach No.2 (sym.)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22192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Neural Net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0.0388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76.3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33.17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95229"/>
                  </a:ext>
                </a:extLst>
              </a:tr>
              <a:tr h="877462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Neural Net with distances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0.0356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76.0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29.48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8646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Approach No.2 (asym.)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 dirty="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GB" sz="320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893915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>
                          <a:effectLst/>
                        </a:rPr>
                        <a:t>Neural Net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0.0456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31.8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41.15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16961"/>
                  </a:ext>
                </a:extLst>
              </a:tr>
              <a:tr h="877462">
                <a:tc>
                  <a:txBody>
                    <a:bodyPr/>
                    <a:lstStyle/>
                    <a:p>
                      <a:pPr rtl="0" fontAlgn="b"/>
                      <a:r>
                        <a:rPr lang="en-GB" sz="3200" b="1" dirty="0">
                          <a:effectLst/>
                        </a:rPr>
                        <a:t>Neural Net with distances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0.0409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30.6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38.21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050493"/>
                  </a:ext>
                </a:extLst>
              </a:tr>
            </a:tbl>
          </a:graphicData>
        </a:graphic>
      </p:graphicFrame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4F74D99D-D787-E505-69A1-47BF40D92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475779"/>
              </p:ext>
            </p:extLst>
          </p:nvPr>
        </p:nvGraphicFramePr>
        <p:xfrm>
          <a:off x="325826" y="28669910"/>
          <a:ext cx="10443609" cy="1036320"/>
        </p:xfrm>
        <a:graphic>
          <a:graphicData uri="http://schemas.openxmlformats.org/drawingml/2006/table">
            <a:tbl>
              <a:tblPr>
                <a:effectLst>
                  <a:outerShdw blurRad="3810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284095">
                  <a:extLst>
                    <a:ext uri="{9D8B030D-6E8A-4147-A177-3AD203B41FA5}">
                      <a16:colId xmlns:a16="http://schemas.microsoft.com/office/drawing/2014/main" val="224089103"/>
                    </a:ext>
                  </a:extLst>
                </a:gridCol>
                <a:gridCol w="2084362">
                  <a:extLst>
                    <a:ext uri="{9D8B030D-6E8A-4147-A177-3AD203B41FA5}">
                      <a16:colId xmlns:a16="http://schemas.microsoft.com/office/drawing/2014/main" val="1834823437"/>
                    </a:ext>
                  </a:extLst>
                </a:gridCol>
                <a:gridCol w="2974028">
                  <a:extLst>
                    <a:ext uri="{9D8B030D-6E8A-4147-A177-3AD203B41FA5}">
                      <a16:colId xmlns:a16="http://schemas.microsoft.com/office/drawing/2014/main" val="1008078083"/>
                    </a:ext>
                  </a:extLst>
                </a:gridCol>
                <a:gridCol w="3101124">
                  <a:extLst>
                    <a:ext uri="{9D8B030D-6E8A-4147-A177-3AD203B41FA5}">
                      <a16:colId xmlns:a16="http://schemas.microsoft.com/office/drawing/2014/main" val="1404620683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effectLst/>
                        </a:rPr>
                        <a:t>Approach</a:t>
                      </a:r>
                    </a:p>
                  </a:txBody>
                  <a:tcPr marL="22860" marR="22860" marT="15240" marB="15240" anchor="b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effectLst/>
                        </a:rPr>
                        <a:t>No.1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>
                          <a:effectLst/>
                        </a:rPr>
                        <a:t>No.2 (sym.)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effectLst/>
                        </a:rPr>
                        <a:t>No.2 (</a:t>
                      </a:r>
                      <a:r>
                        <a:rPr lang="en-GB" sz="3200" b="1" dirty="0" err="1">
                          <a:effectLst/>
                        </a:rPr>
                        <a:t>asym</a:t>
                      </a:r>
                      <a:r>
                        <a:rPr lang="en-GB" sz="3200" b="1" dirty="0">
                          <a:effectLst/>
                        </a:rPr>
                        <a:t>.)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84493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effectLst/>
                        </a:rPr>
                        <a:t>stop score</a:t>
                      </a:r>
                    </a:p>
                  </a:txBody>
                  <a:tcPr marL="22860" marR="22860" marT="15240" marB="15240" anchor="b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0.0257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0.0326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0.0418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799613"/>
                  </a:ext>
                </a:extLst>
              </a:tr>
            </a:tbl>
          </a:graphicData>
        </a:graphic>
      </p:graphicFrame>
      <p:pic>
        <p:nvPicPr>
          <p:cNvPr id="15" name="Picture 4">
            <a:extLst>
              <a:ext uri="{FF2B5EF4-FFF2-40B4-BE49-F238E27FC236}">
                <a16:creationId xmlns:a16="http://schemas.microsoft.com/office/drawing/2014/main" id="{0797A388-E122-DB8F-F34F-BD49E1EDD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189" y="6346583"/>
            <a:ext cx="5769291" cy="3908760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3810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VAIOP - Flanders AI Research Program">
  <a:themeElements>
    <a:clrScheme name="VAIOP - Flanders AI Research Program">
      <a:dk1>
        <a:srgbClr val="3C3C3B"/>
      </a:dk1>
      <a:lt1>
        <a:srgbClr val="FFFFFF"/>
      </a:lt1>
      <a:dk2>
        <a:srgbClr val="A7A7A7"/>
      </a:dk2>
      <a:lt2>
        <a:srgbClr val="535353"/>
      </a:lt2>
      <a:accent1>
        <a:srgbClr val="52BDC1"/>
      </a:accent1>
      <a:accent2>
        <a:srgbClr val="3A3A3A"/>
      </a:accent2>
      <a:accent3>
        <a:srgbClr val="3D98BD"/>
      </a:accent3>
      <a:accent4>
        <a:srgbClr val="C778AC"/>
      </a:accent4>
      <a:accent5>
        <a:srgbClr val="99BDE2"/>
      </a:accent5>
      <a:accent6>
        <a:srgbClr val="1582BE"/>
      </a:accent6>
      <a:hlink>
        <a:srgbClr val="0000FF"/>
      </a:hlink>
      <a:folHlink>
        <a:srgbClr val="FF00FF"/>
      </a:folHlink>
    </a:clrScheme>
    <a:fontScheme name="VAIOP - Flanders AI Research Program">
      <a:majorFont>
        <a:latin typeface="Helvetica"/>
        <a:ea typeface="Helvetica"/>
        <a:cs typeface="Helvetica"/>
      </a:majorFont>
      <a:minorFont>
        <a:latin typeface="Gill Sans MT"/>
        <a:ea typeface="Gill Sans MT"/>
        <a:cs typeface="Gill Sans MT"/>
      </a:minorFont>
    </a:fontScheme>
    <a:fmtScheme name="VAIOP - Flanders AI Research Progra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11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3C3C3B"/>
            </a:solidFill>
            <a:effectLst/>
            <a:uFillTx/>
            <a:latin typeface="Gill Sans Nova"/>
            <a:ea typeface="Gill Sans Nova"/>
            <a:cs typeface="Gill Sans Nova"/>
            <a:sym typeface="Gill Sans Nov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11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3C3C3B"/>
            </a:solidFill>
            <a:effectLst/>
            <a:uFillTx/>
            <a:latin typeface="Gill Sans Nova"/>
            <a:ea typeface="Gill Sans Nova"/>
            <a:cs typeface="Gill Sans Nova"/>
            <a:sym typeface="Gill Sans Nov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VAIOP - Flanders AI Research Program">
  <a:themeElements>
    <a:clrScheme name="VAIOP - Flanders AI Research Progra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2BDC1"/>
      </a:accent1>
      <a:accent2>
        <a:srgbClr val="3A3A3A"/>
      </a:accent2>
      <a:accent3>
        <a:srgbClr val="3D98BD"/>
      </a:accent3>
      <a:accent4>
        <a:srgbClr val="C778AC"/>
      </a:accent4>
      <a:accent5>
        <a:srgbClr val="99BDE2"/>
      </a:accent5>
      <a:accent6>
        <a:srgbClr val="1582BE"/>
      </a:accent6>
      <a:hlink>
        <a:srgbClr val="0000FF"/>
      </a:hlink>
      <a:folHlink>
        <a:srgbClr val="FF00FF"/>
      </a:folHlink>
    </a:clrScheme>
    <a:fontScheme name="VAIOP - Flanders AI Research Program">
      <a:majorFont>
        <a:latin typeface="Helvetica"/>
        <a:ea typeface="Helvetica"/>
        <a:cs typeface="Helvetica"/>
      </a:majorFont>
      <a:minorFont>
        <a:latin typeface="Gill Sans MT"/>
        <a:ea typeface="Gill Sans MT"/>
        <a:cs typeface="Gill Sans MT"/>
      </a:minorFont>
    </a:fontScheme>
    <a:fmtScheme name="VAIOP - Flanders AI Research Progra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11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3C3C3B"/>
            </a:solidFill>
            <a:effectLst/>
            <a:uFillTx/>
            <a:latin typeface="Gill Sans Nova"/>
            <a:ea typeface="Gill Sans Nova"/>
            <a:cs typeface="Gill Sans Nova"/>
            <a:sym typeface="Gill Sans Nov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11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3C3C3B"/>
            </a:solidFill>
            <a:effectLst/>
            <a:uFillTx/>
            <a:latin typeface="Gill Sans Nova"/>
            <a:ea typeface="Gill Sans Nova"/>
            <a:cs typeface="Gill Sans Nova"/>
            <a:sym typeface="Gill Sans Nov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372</Words>
  <Application>Microsoft Office PowerPoint</Application>
  <PresentationFormat>Aangepast</PresentationFormat>
  <Paragraphs>62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Cambria Math</vt:lpstr>
      <vt:lpstr>Gill Sans MT</vt:lpstr>
      <vt:lpstr>Gill Sans Nova</vt:lpstr>
      <vt:lpstr>VAIOP - Flanders AI Research Program</vt:lpstr>
      <vt:lpstr>New approaches for the Amazon Last Mile Routing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approaches for the Amazon Last Mile Routing Challenge</dc:title>
  <dc:creator>Alessandro Marchese</dc:creator>
  <cp:lastModifiedBy>Alessandro Marchese</cp:lastModifiedBy>
  <cp:revision>7</cp:revision>
  <dcterms:modified xsi:type="dcterms:W3CDTF">2023-05-09T20:46:17Z</dcterms:modified>
</cp:coreProperties>
</file>